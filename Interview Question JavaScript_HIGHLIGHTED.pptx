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325" r:id="rId44"/>
    <p:sldId id="296" r:id="rId45"/>
    <p:sldId id="297" r:id="rId46"/>
    <p:sldId id="298" r:id="rId47"/>
    <p:sldId id="326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5"/>
      <p:bold r:id="rId76"/>
      <p:italic r:id="rId77"/>
      <p:boldItalic r:id="rId78"/>
    </p:embeddedFont>
    <p:embeddedFont>
      <p:font typeface="Space Grotesk" panose="020B0604020202020204" charset="0"/>
      <p:regular r:id="rId79"/>
      <p:bold r:id="rId80"/>
    </p:embeddedFont>
    <p:embeddedFont>
      <p:font typeface="Space Grotesk Light" panose="020B0604020202020204" charset="0"/>
      <p:regular r:id="rId81"/>
      <p:bold r:id="rId82"/>
    </p:embeddedFont>
    <p:embeddedFont>
      <p:font typeface="Space Grotesk Medium" panose="020B0604020202020204" charset="0"/>
      <p:regular r:id="rId83"/>
      <p:bold r:id="rId8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17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font" Target="fonts/font10.fntdata"/><Relationship Id="rId89" Type="http://schemas.microsoft.com/office/2015/10/relationships/revisionInfo" Target="revisionInfo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notesMaster" Target="notesMasters/notesMaster1.xml"/><Relationship Id="rId79" Type="http://schemas.openxmlformats.org/officeDocument/2006/relationships/font" Target="fonts/font5.fntdata"/><Relationship Id="rId5" Type="http://schemas.openxmlformats.org/officeDocument/2006/relationships/slide" Target="slides/slide3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3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font" Target="fonts/font6.fntdata"/><Relationship Id="rId85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1.fntdata"/><Relationship Id="rId83" Type="http://schemas.openxmlformats.org/officeDocument/2006/relationships/font" Target="fonts/font9.fntdata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font" Target="fonts/font4.fntdata"/><Relationship Id="rId81" Type="http://schemas.openxmlformats.org/officeDocument/2006/relationships/font" Target="fonts/font7.fntdata"/><Relationship Id="rId86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2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font" Target="fonts/font8.fntdata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>
          <a:extLst>
            <a:ext uri="{FF2B5EF4-FFF2-40B4-BE49-F238E27FC236}">
              <a16:creationId xmlns:a16="http://schemas.microsoft.com/office/drawing/2014/main" id="{24E08263-9176-B894-69B6-19B2576E7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>
            <a:extLst>
              <a:ext uri="{FF2B5EF4-FFF2-40B4-BE49-F238E27FC236}">
                <a16:creationId xmlns:a16="http://schemas.microsoft.com/office/drawing/2014/main" id="{03B8D559-CBC5-AFDA-089F-33537CE7C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>
            <a:extLst>
              <a:ext uri="{FF2B5EF4-FFF2-40B4-BE49-F238E27FC236}">
                <a16:creationId xmlns:a16="http://schemas.microsoft.com/office/drawing/2014/main" id="{568BDBE0-1330-6676-9941-7069B0017F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640238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>
          <a:extLst>
            <a:ext uri="{FF2B5EF4-FFF2-40B4-BE49-F238E27FC236}">
              <a16:creationId xmlns:a16="http://schemas.microsoft.com/office/drawing/2014/main" id="{E622C04F-1E52-5E70-BF4B-BC5BC1E0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>
            <a:extLst>
              <a:ext uri="{FF2B5EF4-FFF2-40B4-BE49-F238E27FC236}">
                <a16:creationId xmlns:a16="http://schemas.microsoft.com/office/drawing/2014/main" id="{A9DCEBBD-F241-A5B7-A9C5-AC36E182C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>
            <a:extLst>
              <a:ext uri="{FF2B5EF4-FFF2-40B4-BE49-F238E27FC236}">
                <a16:creationId xmlns:a16="http://schemas.microsoft.com/office/drawing/2014/main" id="{E0ADE679-3216-D4FF-5717-DE169993B1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8474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অন্য function-এর argument হিসেবে পাঠানো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call করা হয়,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event-driven operation-এর 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tasks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functional programming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partial application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pre-fill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arrow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সহজে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implement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be </a:t>
            </a:r>
            <a:r>
              <a:rPr lang="en-US" sz="18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</a:t>
            </a: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hell কী?</a:t>
            </a:r>
            <a:endParaRPr sz="3700" dirty="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3013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কারণে code deeply indented, hard to read এবং maintain করা কঠিন হয়ে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readability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error handling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কঠিন করে তোলে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Solutions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66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একটি object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operation-এর future result represent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success বা failure state ধারণ করতে পারে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.then() বা .catch() দিয়ে handle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Initial state, operation ongoing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Fulfilled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successful → result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failed → error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hell by chaining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95;p85">
            <a:extLst>
              <a:ext uri="{FF2B5EF4-FFF2-40B4-BE49-F238E27FC236}">
                <a16:creationId xmlns:a16="http://schemas.microsoft.com/office/drawing/2014/main" id="{EABEF26B-FE37-51C2-505E-D437976E9F9D}"/>
              </a:ext>
            </a:extLst>
          </p:cNvPr>
          <p:cNvSpPr txBox="1"/>
          <p:nvPr/>
        </p:nvSpPr>
        <p:spPr>
          <a:xfrm>
            <a:off x="4449450" y="2076642"/>
            <a:ext cx="4427718" cy="263915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new Promise((resolve, reject) =&gt; {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success = true;…………………………………… 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মনে করি কাজ সফল হয়েছে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(()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if (success)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resolve("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গেছে!");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…….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সফল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                    } 	else {  reject("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যায়নি!");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…..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ব্যর্থ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        }  }, 2000); } ) ;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Promise handling: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.then((data)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 console.log(data);………….//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ডাটা পাওয়া গেছে! (২ সেকেন্ড পর)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   .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catch((error) =&gt; {   console.log(error); //……………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ব্যর্থ হতো তবে এখানে আসতো    });</a:t>
            </a:r>
            <a:endParaRPr sz="10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state কয়টি?</a:t>
            </a:r>
            <a:endParaRPr sz="3700" dirty="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305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error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chaining কী?</a:t>
            </a:r>
            <a:endParaRPr sz="3700" dirty="0"/>
          </a:p>
        </p:txBody>
      </p:sp>
      <p:sp>
        <p:nvSpPr>
          <p:cNvPr id="707" name="Google Shape;707;p87"/>
          <p:cNvSpPr txBox="1"/>
          <p:nvPr/>
        </p:nvSpPr>
        <p:spPr>
          <a:xfrm>
            <a:off x="742950" y="1394364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যেখানে multiple asynchronous operations কে sequentially execute করা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operation শেষ হওয়ার পরে পরের .then() call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new Promise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371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ES8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এর 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code কে synchronous এর মতো readable এবং manageable করার জন্য ব্যবহৃত হয়।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await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keyword: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built-in function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network request (HTTP) পাঠানোর জন্য ব্যবহার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এটি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return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GET, POST, PUT, DELETE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mechanism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single-threaded environment-এ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manage করে, এবং ensures করে যে non-blocking tasks ঠিকভাবে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block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ফাঁকা হলে Task /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Queue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Call Stack এ push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execute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</a:t>
            </a:r>
            <a:endParaRPr sz="1100" dirty="0">
              <a:solidFill>
                <a:srgbClr val="FFFFFF"/>
              </a:solidFill>
              <a:highlight>
                <a:srgbClr val="8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queue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callbacks এবং process.nextTick (Node.js)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মতো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high-priority asynchronous tasks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রাখে,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এগুলো প্রথমে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Higher priority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than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regular Task Queue (macro task)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চলে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 ফাঁকা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হলে Microtask Queue থেকে tasks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787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function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কে 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পর execute করে।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Delay নেয় কারণ JavaScript single-threaded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Event Loop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তাই delay থাকলেও code execution চলতে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Actual delay may be longer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0ms দিলেও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 execution guarantee নেই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>
          <a:extLst>
            <a:ext uri="{FF2B5EF4-FFF2-40B4-BE49-F238E27FC236}">
              <a16:creationId xmlns:a16="http://schemas.microsoft.com/office/drawing/2014/main" id="{1C530848-6629-E8B8-2C4C-3694E1B60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>
            <a:extLst>
              <a:ext uri="{FF2B5EF4-FFF2-40B4-BE49-F238E27FC236}">
                <a16:creationId xmlns:a16="http://schemas.microsoft.com/office/drawing/2014/main" id="{AAEA045F-B311-30C1-C129-BD3FFA0E0157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>
            <a:extLst>
              <a:ext uri="{FF2B5EF4-FFF2-40B4-BE49-F238E27FC236}">
                <a16:creationId xmlns:a16="http://schemas.microsoft.com/office/drawing/2014/main" id="{4B683F7A-0F31-F386-F276-0E93D26E82E1}"/>
              </a:ext>
            </a:extLst>
          </p:cNvPr>
          <p:cNvSpPr txBox="1"/>
          <p:nvPr/>
        </p:nvSpPr>
        <p:spPr>
          <a:xfrm>
            <a:off x="620400" y="1146930"/>
            <a:ext cx="7903200" cy="333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Example: Claude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"Minimum Delay"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 কী?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 ( ) =&gt; {    console.log("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চলব?")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//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...........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দিলেও...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 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চলব!“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Output: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   ← 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 পরে!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⚠️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"এখনই না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 —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খালি হওয়ার পরে, তাই এটা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 কথায় সারাংশ: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 — "এই কাজটা এখন করো না, বাকি সব শেষ হোক, তারপর করো।" — এটাই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মূল ধারণা।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39006384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map() vs forEach() </a:t>
            </a:r>
            <a:r>
              <a:rPr lang="en" sz="1800" dirty="0"/>
              <a:t>vs code array-methods.js</a:t>
            </a:r>
            <a:endParaRPr sz="3700" dirty="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49" y="1056725"/>
            <a:ext cx="6955713" cy="406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iteration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 ব্যবহৃত হয়,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element এ callback apply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modify করতে 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new array return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: প্রতিটি element modify করে new array return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 (</a:t>
            </a:r>
            <a:r>
              <a:rPr lang="e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Space Grotesk"/>
                <a:ea typeface="Space Grotesk"/>
                <a:cs typeface="Space Grotesk"/>
                <a:sym typeface="Space Grotesk"/>
              </a:rPr>
              <a:t>map nije change korena, jodi na index er maddhome manually change kora hoy)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chemeClr val="accent6">
                  <a:lumMod val="60000"/>
                  <a:lumOff val="4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point: </a:t>
            </a: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executes a function on each array element without returning anything, while map() transforms each element and returns a new array.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3;p93">
            <a:extLst>
              <a:ext uri="{FF2B5EF4-FFF2-40B4-BE49-F238E27FC236}">
                <a16:creationId xmlns:a16="http://schemas.microsoft.com/office/drawing/2014/main" id="{4E119BC9-6195-2494-755A-B4C4B59445AA}"/>
              </a:ext>
            </a:extLst>
          </p:cNvPr>
          <p:cNvSpPr txBox="1"/>
          <p:nvPr/>
        </p:nvSpPr>
        <p:spPr>
          <a:xfrm>
            <a:off x="5606715" y="1617518"/>
            <a:ext cx="3465095" cy="1601947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numbers = [1, 2, 3, 4];//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সংখ্যা দ্বিগুণ করা (মূল অ্যারে পরিবর্তন করা)</a:t>
            </a:r>
            <a:endParaRPr lang="en-US" sz="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numbers .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 (num, index,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=&gt; { 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[index] = num * 2;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……..//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সরাসরি মূল অ্যারের ইনডেক্স ব্যবহার করে পরিবর্তন</a:t>
            </a:r>
            <a:r>
              <a:rPr lang="en-US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console.log(numbers); 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[2, 4, 6, 8] (মূল অ্যারে পরিবর্তিত হয়েছে)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filter() কী?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vs code array-methods.js</a:t>
            </a:r>
            <a:r>
              <a:rPr lang="en" sz="3700" dirty="0"/>
              <a:t> </a:t>
            </a:r>
            <a:endParaRPr sz="3700" dirty="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255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filter()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একটি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method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 প্রতিটি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চেক করে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যে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elements 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পূরণ করে সেগুলো নিয়ে নতুন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তৈরি করে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(callback(element, index, array));</a:t>
            </a: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9;p94">
            <a:extLst>
              <a:ext uri="{FF2B5EF4-FFF2-40B4-BE49-F238E27FC236}">
                <a16:creationId xmlns:a16="http://schemas.microsoft.com/office/drawing/2014/main" id="{3C7DBE10-F5DF-D6DC-78F6-E5B900058559}"/>
              </a:ext>
            </a:extLst>
          </p:cNvPr>
          <p:cNvSpPr txBox="1"/>
          <p:nvPr/>
        </p:nvSpPr>
        <p:spPr>
          <a:xfrm>
            <a:off x="2757237" y="3608932"/>
            <a:ext cx="5888913" cy="107641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[1, 5, 8, 10, 15, 20];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(num =&gt; num &lt;= 10 ) ; ……//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শর্ত সত্যি হলেই ট্রু রিটার্ন হয়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[1, 5, 8, 10]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158994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array-এর সব elements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single value তে reduce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change হয়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>
          <a:extLst>
            <a:ext uri="{FF2B5EF4-FFF2-40B4-BE49-F238E27FC236}">
              <a16:creationId xmlns:a16="http://schemas.microsoft.com/office/drawing/2014/main" id="{B705F034-459A-68D1-1100-0250200B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>
            <a:extLst>
              <a:ext uri="{FF2B5EF4-FFF2-40B4-BE49-F238E27FC236}">
                <a16:creationId xmlns:a16="http://schemas.microsoft.com/office/drawing/2014/main" id="{1C439653-2296-DC01-A4A2-2E595B0538DE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>
            <a:extLst>
              <a:ext uri="{FF2B5EF4-FFF2-40B4-BE49-F238E27FC236}">
                <a16:creationId xmlns:a16="http://schemas.microsoft.com/office/drawing/2014/main" id="{019A3032-7855-C7A8-E876-115929BDC8EF}"/>
              </a:ext>
            </a:extLst>
          </p:cNvPr>
          <p:cNvSpPr txBox="1"/>
          <p:nvPr/>
        </p:nvSpPr>
        <p:spPr>
          <a:xfrm>
            <a:off x="497850" y="1158994"/>
            <a:ext cx="7903200" cy="341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ts val="1425"/>
              </a:lnSpc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// Example 1 ====================================</a:t>
            </a:r>
            <a:endParaRPr lang="en-US" sz="900" b="0" dirty="0">
              <a:solidFill>
                <a:srgbClr val="FF7B72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232,24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2: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method chaining with .flat() 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3: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with initial value ====================================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"reduce2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49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here, 100 Initial value for "accumulator"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: 149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4: 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=============================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23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3641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5614192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থেকে element remove বা insert করে original array modify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61;p96">
            <a:extLst>
              <a:ext uri="{FF2B5EF4-FFF2-40B4-BE49-F238E27FC236}">
                <a16:creationId xmlns:a16="http://schemas.microsoft.com/office/drawing/2014/main" id="{209AC52D-47C6-F6E9-5CB5-84D0BA94D37B}"/>
              </a:ext>
            </a:extLst>
          </p:cNvPr>
          <p:cNvSpPr txBox="1"/>
          <p:nvPr/>
        </p:nvSpPr>
        <p:spPr>
          <a:xfrm>
            <a:off x="5763125" y="1485851"/>
            <a:ext cx="3206417" cy="1755835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['a', 'b', 'c', 'd', 'e'];//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১ম থেকে ৩য় ইন্ডেক্স পর্যন্ত কাটবো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originalArray.slice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(1, 3); // output: ['b', 'c’]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     // ['b', 'c'] (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নতুন অ্যারে)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['a', 'b', 'c', 'd', 'e'] (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 অ্যারে একই আছে)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array বা object copy করার দুইটি ধরন, এবং এদের মধ্যে পার্থক্য হলো কিভাবে nested structures handle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top-level elements copy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→ original পরিবর্তন হলে copy তেও পরিবর্তন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→ nested objects আলাদা memory 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JSON.parse(JSON.stringify(obj)), structuredClone() (modern JS), recursive function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Merging arrays / objects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Destructuring</a:t>
            </a:r>
            <a:endParaRPr sz="3700"/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হলো JavaScript feature যা array বা object থেকে values কে extract করে variables-এ সহজে assign করার জন্য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completely immutable হয়ে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update করা যাবে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Prototype কী?</a:t>
            </a:r>
            <a:endParaRPr sz="370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mechanism যার মাধ্যমে objects একে অপরের কাছ থেকে properties ও methods inherit করে। JavaScript-এ inheritance prototype chain দিয়ে কাজ করে, class না, object-to-object linkage দিয়ে।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object-এর একটি internal property থাকে → [[Prototype]]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access করা হয় __proto__ বা Object.getPrototypeOf() দিয়ে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property object-এ না পাওয়া যায়, JavaScript prototype chain ধরে উপরের object-এ খোঁজে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4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একটি programming interface যা HTML document কে tree structure আকারে represent করে, যাতে JavaScript দিয়ে web page dynamically change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HTML কে parse করে একটি tree of nodes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HTML element DOM-এর একটি object (node)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 JavaScript event propagation mechanism যেখানে কোনো element-এ event ঘটলে সেটি ভিতর থেকে বাইরে (child → parent → document) দিকে propagate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behavior হলো bubbling phase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প্রথমে target element-এ trigger হয়, তারপর parent, তারপর grandparent পর্যন্ত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ব্যবহার করে bubbling থামানো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6306</Words>
  <Application>Microsoft Office PowerPoint</Application>
  <PresentationFormat>On-screen Show (16:9)</PresentationFormat>
  <Paragraphs>637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78" baseType="lpstr">
      <vt:lpstr>Space Grotesk</vt:lpstr>
      <vt:lpstr>Space Grotesk Medium</vt:lpstr>
      <vt:lpstr>Consolas</vt:lpstr>
      <vt:lpstr>Arial</vt:lpstr>
      <vt:lpstr>Space Grotesk Light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setTimeout কেন delay নেয়?</vt:lpstr>
      <vt:lpstr>map() vs forEach() vs code array-methods.js</vt:lpstr>
      <vt:lpstr>filter() কী? vs code array-methods.js </vt:lpstr>
      <vt:lpstr>reduce() explain with example  vs code array-methods.js </vt:lpstr>
      <vt:lpstr>reduce() explain with example  vs code array-methods.js 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362</cp:revision>
  <dcterms:modified xsi:type="dcterms:W3CDTF">2026-05-02T06:37:32Z</dcterms:modified>
</cp:coreProperties>
</file>